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sz="1400" b="1">
                <a:solidFill>
                  <a:srgbClr val="C8F53C"/>
                </a:solidFill>
              </a:rPr>
              <a:t>NORTHSTAR / BOARD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6400800" cy="32004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8400">
                <a:solidFill>
                  <a:srgbClr val="F5F5F0"/>
                </a:solidFill>
              </a:rPr>
              <a:t>Q2
</a:t>
            </a:r>
            <a:r>
              <a:rPr b="1" sz="4400">
                <a:solidFill>
                  <a:srgbClr val="F5F5F0"/>
                </a:solidFill>
              </a:rPr>
              <a:t>A sharper path
to durable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548640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8C9BAF"/>
                </a:solidFill>
              </a:rPr>
              <a:t>Executive operating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760720"/>
            <a:ext cx="5212080" cy="685800"/>
          </a:xfrm>
          <a:prstGeom prst="roundRect">
            <a:avLst/>
          </a:prstGeom>
          <a:solidFill>
            <a:srgbClr val="162232"/>
          </a:solidFill>
          <a:ln>
            <a:solidFill>
              <a:srgbClr val="162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5F0"/>
                </a:solidFill>
              </a:rPr>
              <a:t>JUNE 2026</a:t>
            </a:r>
            <a:r>
              <a:rPr b="0" sz="1400">
                <a:solidFill>
                  <a:srgbClr val="465569"/>
                </a:solidFill>
              </a:rPr>
              <a:t>   |   </a:t>
            </a:r>
            <a:r>
              <a:rPr b="0" sz="1400">
                <a:solidFill>
                  <a:srgbClr val="B4C3D2"/>
                </a:solidFill>
              </a:rPr>
              <a:t>SAN FRANCISCO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5943600"/>
            <a:ext cx="7315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600">
                <a:solidFill>
                  <a:srgbClr val="8C9BAF"/>
                </a:solidFill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7772400" y="0"/>
            <a:ext cx="5029200" cy="5029200"/>
          </a:xfrm>
          <a:prstGeom prst="ellipse">
            <a:avLst/>
          </a:prstGeom>
          <a:noFill/>
          <a:ln w="25400">
            <a:solidFill>
              <a:srgbClr val="2D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0" y="0"/>
            <a:ext cx="3200400" cy="2103120"/>
          </a:xfrm>
          <a:prstGeom prst="ellipse">
            <a:avLst/>
          </a:prstGeom>
          <a:noFill/>
          <a:ln w="38100">
            <a:solidFill>
              <a:srgbClr val="C8F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046720" y="0"/>
            <a:ext cx="3840480" cy="3657600"/>
          </a:xfrm>
          <a:prstGeom prst="line">
            <a:avLst/>
          </a:prstGeom>
          <a:ln w="12700">
            <a:solidFill>
              <a:srgbClr val="3C4B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7315200" cy="10972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100">
                <a:solidFill>
                  <a:srgbClr val="646E78"/>
                </a:solidFill>
              </a:rPr>
              <a:t>Q2 EXECUTIVE PULSE
</a:t>
            </a:r>
            <a:r>
              <a:rPr b="1" sz="3200">
                <a:solidFill>
                  <a:srgbClr val="141923"/>
                </a:solidFill>
              </a:rPr>
              <a:t>Growth is strong.
</a:t>
            </a:r>
            <a:r>
              <a:rPr b="1" sz="3200">
                <a:solidFill>
                  <a:srgbClr val="EB7364"/>
                </a:solidFill>
              </a:rPr>
              <a:t>Activation is the constraint.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606040" cy="1280160"/>
          </a:xfrm>
          <a:prstGeom prst="roundRect">
            <a:avLst/>
          </a:prstGeom>
          <a:solidFill>
            <a:srgbClr val="0D1522"/>
          </a:solidFill>
          <a:ln>
            <a:solidFill>
              <a:srgbClr val="0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37160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000">
                <a:solidFill>
                  <a:srgbClr val="B4C3D2"/>
                </a:solidFill>
              </a:rPr>
              <a:t>ARR
</a:t>
            </a:r>
            <a:r>
              <a:rPr b="1" sz="2800">
                <a:solidFill>
                  <a:srgbClr val="FFFFFF"/>
                </a:solidFill>
              </a:rPr>
              <a:t>$42.8M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743200"/>
            <a:ext cx="868680" cy="365760"/>
          </a:xfrm>
          <a:prstGeom prst="roundRect">
            <a:avLst/>
          </a:prstGeom>
          <a:solidFill>
            <a:srgbClr val="C8F53C"/>
          </a:solidFill>
          <a:ln>
            <a:solidFill>
              <a:srgbClr val="C8F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100" b="1">
                <a:solidFill>
                  <a:srgbClr val="0D1522"/>
                </a:solidFill>
              </a:rPr>
              <a:t>+38% YoY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210312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240280"/>
            <a:ext cx="155448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000">
                <a:solidFill>
                  <a:srgbClr val="646E7D"/>
                </a:solidFill>
              </a:rPr>
              <a:t>NET REVENUE RETENTION
</a:t>
            </a:r>
            <a:r>
              <a:rPr b="1" sz="2800">
                <a:solidFill>
                  <a:srgbClr val="0D1522"/>
                </a:solidFill>
              </a:rPr>
              <a:t>118%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743200"/>
            <a:ext cx="777240" cy="365760"/>
          </a:xfrm>
          <a:prstGeom prst="roundRect">
            <a:avLst/>
          </a:prstGeom>
          <a:solidFill>
            <a:srgbClr val="D7E6F5"/>
          </a:solidFill>
          <a:ln>
            <a:solidFill>
              <a:srgbClr val="D7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100" b="1">
                <a:solidFill>
                  <a:srgbClr val="0D1522"/>
                </a:solidFill>
              </a:rPr>
              <a:t>+4 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240280"/>
            <a:ext cx="155448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000">
                <a:solidFill>
                  <a:srgbClr val="646E7D"/>
                </a:solidFill>
              </a:rPr>
              <a:t>GROSS MARGIN
</a:t>
            </a:r>
            <a:r>
              <a:rPr b="1" sz="2800">
                <a:solidFill>
                  <a:srgbClr val="0D1522"/>
                </a:solidFill>
              </a:rPr>
              <a:t>76%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743200"/>
            <a:ext cx="777240" cy="365760"/>
          </a:xfrm>
          <a:prstGeom prst="roundRect">
            <a:avLst/>
          </a:prstGeom>
          <a:solidFill>
            <a:srgbClr val="D7E6F5"/>
          </a:solidFill>
          <a:ln>
            <a:solidFill>
              <a:srgbClr val="D7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100" b="1">
                <a:solidFill>
                  <a:srgbClr val="0D1522"/>
                </a:solidFill>
              </a:rPr>
              <a:t>+2 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2103120"/>
            <a:ext cx="26060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240280"/>
            <a:ext cx="1554480" cy="100584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000">
                <a:solidFill>
                  <a:srgbClr val="646E7D"/>
                </a:solidFill>
              </a:rPr>
              <a:t>7-DAY ACTIVATION
</a:t>
            </a:r>
            <a:r>
              <a:rPr b="1" sz="2800">
                <a:solidFill>
                  <a:srgbClr val="0D1522"/>
                </a:solidFill>
              </a:rPr>
              <a:t>61%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78440" y="2743200"/>
            <a:ext cx="777240" cy="365760"/>
          </a:xfrm>
          <a:prstGeom prst="roundRect">
            <a:avLst/>
          </a:prstGeom>
          <a:solidFill>
            <a:srgbClr val="FFDCD7"/>
          </a:solidFill>
          <a:ln>
            <a:solidFill>
              <a:srgbClr val="FF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100" b="1">
                <a:solidFill>
                  <a:srgbClr val="B43228"/>
                </a:solidFill>
              </a:rPr>
              <a:t>-7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sz="1100" b="1">
                <a:solidFill>
                  <a:srgbClr val="646E7D"/>
                </a:solidFill>
              </a:rPr>
              <a:t>ACTIVATION FUNNEL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7589520" cy="411480"/>
          </a:xfrm>
          <a:prstGeom prst="roundRect">
            <a:avLst/>
          </a:prstGeom>
          <a:solidFill>
            <a:srgbClr val="0D1522"/>
          </a:solidFill>
          <a:ln>
            <a:solidFill>
              <a:srgbClr val="0D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12.4k   Signed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4937760" cy="411480"/>
          </a:xfrm>
          <a:prstGeom prst="roundRect">
            <a:avLst/>
          </a:prstGeom>
          <a:solidFill>
            <a:srgbClr val="2A445C"/>
          </a:solidFill>
          <a:ln>
            <a:solidFill>
              <a:srgbClr val="2A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8.1k   Connected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3657600" cy="411480"/>
          </a:xfrm>
          <a:prstGeom prst="roundRect">
            <a:avLst/>
          </a:prstGeom>
          <a:solidFill>
            <a:srgbClr val="4B6982"/>
          </a:solidFill>
          <a:ln>
            <a:solidFill>
              <a:srgbClr val="4B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6.0k   Invited team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69280"/>
            <a:ext cx="2377440" cy="411480"/>
          </a:xfrm>
          <a:prstGeom prst="roundRect">
            <a:avLst/>
          </a:prstGeom>
          <a:solidFill>
            <a:srgbClr val="C8F53C"/>
          </a:solidFill>
          <a:ln>
            <a:solidFill>
              <a:srgbClr val="C8F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0D1522"/>
                </a:solidFill>
              </a:rPr>
              <a:t>3.9k   Weekly value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3977639"/>
            <a:ext cx="2834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160520"/>
            <a:ext cx="2377440" cy="173736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000">
                <a:solidFill>
                  <a:srgbClr val="646E7D"/>
                </a:solidFill>
              </a:rPr>
              <a:t>BOARD READOUT
</a:t>
            </a:r>
            <a:r>
              <a:rPr b="1" sz="3600">
                <a:solidFill>
                  <a:srgbClr val="EB7364"/>
                </a:solidFill>
              </a:rPr>
              <a:t>35%
</a:t>
            </a:r>
            <a:r>
              <a:rPr b="0" sz="1200">
                <a:solidFill>
                  <a:srgbClr val="28323C"/>
                </a:solidFill>
              </a:rPr>
              <a:t>of sign-ups never connect
a data source — the
largest controllable leak.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5943600"/>
            <a:ext cx="7315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400">
                <a:solidFill>
                  <a:srgbClr val="8C9196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10972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100">
                <a:solidFill>
                  <a:srgbClr val="C8F53C"/>
                </a:solidFill>
              </a:rPr>
              <a:t>THE NEXT 90 DAYS
</a:t>
            </a:r>
            <a:r>
              <a:rPr b="1" sz="3200">
                <a:solidFill>
                  <a:srgbClr val="FFFFFF"/>
                </a:solidFill>
              </a:rPr>
              <a:t>A focused path to
</a:t>
            </a:r>
            <a:r>
              <a:rPr b="1" sz="3200">
                <a:solidFill>
                  <a:srgbClr val="C8F53C"/>
                </a:solidFill>
              </a:rPr>
              <a:t>70% activation.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3474720" cy="2834640"/>
          </a:xfrm>
          <a:prstGeom prst="roundRect">
            <a:avLst/>
          </a:prstGeom>
          <a:solidFill>
            <a:srgbClr val="142032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423160"/>
            <a:ext cx="548640" cy="365760"/>
          </a:xfrm>
          <a:prstGeom prst="roundRect">
            <a:avLst/>
          </a:prstGeom>
          <a:solidFill>
            <a:srgbClr val="C8F53C"/>
          </a:solidFill>
          <a:ln>
            <a:solidFill>
              <a:srgbClr val="C8F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200" b="1">
                <a:solidFill>
                  <a:srgbClr val="0D1522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17520"/>
            <a:ext cx="301752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2200">
                <a:solidFill>
                  <a:srgbClr val="FFFFFF"/>
                </a:solidFill>
              </a:rPr>
              <a:t>Instrument
</a:t>
            </a:r>
            <a:r>
              <a:rPr b="1" sz="1100">
                <a:solidFill>
                  <a:srgbClr val="C8F53C"/>
                </a:solidFill>
              </a:rPr>
              <a:t>WEEKS 1-3
</a:t>
            </a:r>
            <a:r>
              <a:rPr b="0" sz="1300">
                <a:solidFill>
                  <a:srgbClr val="B4C3D2"/>
                </a:solidFill>
              </a:rPr>
              <a:t>Find the three moments where
setup breaks.
</a:t>
            </a:r>
            <a:r>
              <a:rPr b="0" sz="1300">
                <a:solidFill>
                  <a:srgbClr val="C8D7E6"/>
                </a:solidFill>
              </a:rPr>
              <a:t>•  Event taxonomy
•  Journey replay
•  Owner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474720" cy="2834640"/>
          </a:xfrm>
          <a:prstGeom prst="roundRect">
            <a:avLst/>
          </a:prstGeom>
          <a:solidFill>
            <a:srgbClr val="142032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0" y="2423160"/>
            <a:ext cx="548640" cy="365760"/>
          </a:xfrm>
          <a:prstGeom prst="roundRect">
            <a:avLst/>
          </a:prstGeom>
          <a:solidFill>
            <a:srgbClr val="8CD7F0"/>
          </a:solidFill>
          <a:ln>
            <a:solidFill>
              <a:srgbClr val="8C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200" b="1">
                <a:solidFill>
                  <a:srgbClr val="0D1522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301752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2200">
                <a:solidFill>
                  <a:srgbClr val="FFFFFF"/>
                </a:solidFill>
              </a:rPr>
              <a:t>Remove friction
</a:t>
            </a:r>
            <a:r>
              <a:rPr b="1" sz="1100">
                <a:solidFill>
                  <a:srgbClr val="8CD7F0"/>
                </a:solidFill>
              </a:rPr>
              <a:t>WEEKS 4-8
</a:t>
            </a:r>
            <a:r>
              <a:rPr b="0" sz="1300">
                <a:solidFill>
                  <a:srgbClr val="B4C3D2"/>
                </a:solidFill>
              </a:rPr>
              <a:t>Ship the smallest changes that
unblock first value.
</a:t>
            </a:r>
            <a:r>
              <a:rPr b="0" sz="1300">
                <a:solidFill>
                  <a:srgbClr val="C8D7E6"/>
                </a:solidFill>
              </a:rPr>
              <a:t>•  Guided connector
•  Role presets
•  Recovery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474720" cy="2834640"/>
          </a:xfrm>
          <a:prstGeom prst="roundRect">
            <a:avLst/>
          </a:prstGeom>
          <a:solidFill>
            <a:srgbClr val="142032"/>
          </a:solidFill>
          <a:ln>
            <a:solidFill>
              <a:srgbClr val="23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75320" y="2423160"/>
            <a:ext cx="548640" cy="365760"/>
          </a:xfrm>
          <a:prstGeom prst="roundRect">
            <a:avLst/>
          </a:prstGeom>
          <a:solidFill>
            <a:srgbClr val="E1AFEB"/>
          </a:solidFill>
          <a:ln>
            <a:solidFill>
              <a:srgbClr val="E1A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/>
            <a:r>
              <a:rPr sz="1200" b="1">
                <a:solidFill>
                  <a:srgbClr val="0D1522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017520"/>
            <a:ext cx="3017520" cy="18288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2200">
                <a:solidFill>
                  <a:srgbClr val="FFFFFF"/>
                </a:solidFill>
              </a:rPr>
              <a:t>Scale the win
</a:t>
            </a:r>
            <a:r>
              <a:rPr b="1" sz="1100">
                <a:solidFill>
                  <a:srgbClr val="E1AFEB"/>
                </a:solidFill>
              </a:rPr>
              <a:t>WEEKS 9-12
</a:t>
            </a:r>
            <a:r>
              <a:rPr b="0" sz="1300">
                <a:solidFill>
                  <a:srgbClr val="B4C3D2"/>
                </a:solidFill>
              </a:rPr>
              <a:t>Standardize the loop and expand
by segment.
</a:t>
            </a:r>
            <a:r>
              <a:rPr b="0" sz="1300">
                <a:solidFill>
                  <a:srgbClr val="C8D7E6"/>
                </a:solidFill>
              </a:rPr>
              <a:t>•  Lifecycle prompts
•  CS playbook
•  Weekly scorecard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800"/>
            <a:ext cx="10881360" cy="594360"/>
          </a:xfrm>
          <a:prstGeom prst="roundRect">
            <a:avLst/>
          </a:prstGeom>
          <a:solidFill>
            <a:srgbClr val="C8F53C"/>
          </a:solidFill>
          <a:ln>
            <a:solidFill>
              <a:srgbClr val="C8F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515600" cy="41148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/>
            <a:r>
              <a:rPr b="1" sz="1100">
                <a:solidFill>
                  <a:srgbClr val="0D1522"/>
                </a:solidFill>
              </a:rPr>
              <a:t>DECISION TODAY      </a:t>
            </a:r>
            <a:r>
              <a:rPr b="1" sz="1400">
                <a:solidFill>
                  <a:srgbClr val="0D1522"/>
                </a:solidFill>
              </a:rPr>
              <a:t>Fund one activation squad for 90 days; review progress every Friday.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5943600"/>
            <a:ext cx="731520" cy="457200"/>
          </a:xfrm>
          <a:prstGeom prst="rect">
            <a:avLst/>
          </a:prstGeom>
          <a:noFill/>
          <a:ln>
            <a:solidFill/>
          </a:ln>
        </p:spPr>
        <p:txBody>
          <a:bodyPr wrap="square">
            <a:normAutofit/>
          </a:bodyPr>
          <a:lstStyle/>
          <a:p>
            <a:pPr algn="r"/>
            <a:r>
              <a:rPr sz="1400">
                <a:solidFill>
                  <a:srgbClr val="8C9BAF"/>
                </a:solidFill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Board Update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